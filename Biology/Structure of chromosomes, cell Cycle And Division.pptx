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"/>
  </p:notes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946A4-D263-4A27-A4E6-805AD40234B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3799D-B19C-42ED-80F6-3997B4A45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538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0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80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46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5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5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8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47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66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1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259FEF2-9A1A-493A-9278-DC24D9F00C7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C9A9A56-C9E6-420C-9F7C-4463AE361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5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DF7F6-20CB-7D12-C13E-0CDC2DAC7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4623" y="1333500"/>
            <a:ext cx="10288905" cy="3019425"/>
          </a:xfrm>
        </p:spPr>
        <p:txBody>
          <a:bodyPr/>
          <a:lstStyle/>
          <a:p>
            <a:r>
              <a:rPr lang="en-US" sz="4400" dirty="0"/>
              <a:t>Structure of chromosomes, cell Cycle And Division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8D654-B742-5580-F677-35D67FB3E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173" y="4560570"/>
            <a:ext cx="7891272" cy="106984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231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67770-6689-DE01-5C60-CEC17D57B8DD}"/>
              </a:ext>
            </a:extLst>
          </p:cNvPr>
          <p:cNvSpPr txBox="1"/>
          <p:nvPr/>
        </p:nvSpPr>
        <p:spPr>
          <a:xfrm>
            <a:off x="3424826" y="1560810"/>
            <a:ext cx="5086649" cy="76944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+mj-lt"/>
              </a:rPr>
              <a:t>CHROMOSOMES</a:t>
            </a:r>
            <a:endParaRPr lang="en-IN" b="1" dirty="0">
              <a:latin typeface="+mj-lt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D1C74DF-04C4-54C4-B2AE-12D609480132}"/>
              </a:ext>
            </a:extLst>
          </p:cNvPr>
          <p:cNvSpPr/>
          <p:nvPr/>
        </p:nvSpPr>
        <p:spPr>
          <a:xfrm rot="2154940">
            <a:off x="3393182" y="2316397"/>
            <a:ext cx="401613" cy="1743075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308D653-3BBA-F9B4-E209-14286840ADB9}"/>
              </a:ext>
            </a:extLst>
          </p:cNvPr>
          <p:cNvSpPr/>
          <p:nvPr/>
        </p:nvSpPr>
        <p:spPr>
          <a:xfrm rot="19091253">
            <a:off x="8547078" y="2322196"/>
            <a:ext cx="401613" cy="2013032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D5D1B-3C46-1984-EB49-BF55E7D85249}"/>
              </a:ext>
            </a:extLst>
          </p:cNvPr>
          <p:cNvSpPr txBox="1"/>
          <p:nvPr/>
        </p:nvSpPr>
        <p:spPr>
          <a:xfrm>
            <a:off x="1185445" y="4218084"/>
            <a:ext cx="2303836" cy="76944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CHROMO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87BA8-756D-5C6B-75B0-607B766DBBBE}"/>
              </a:ext>
            </a:extLst>
          </p:cNvPr>
          <p:cNvSpPr txBox="1"/>
          <p:nvPr/>
        </p:nvSpPr>
        <p:spPr>
          <a:xfrm>
            <a:off x="8906656" y="4218084"/>
            <a:ext cx="1800493" cy="76944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SOMES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57A21A-21D1-5BC7-5BC6-BE99C0E2665A}"/>
              </a:ext>
            </a:extLst>
          </p:cNvPr>
          <p:cNvSpPr/>
          <p:nvPr/>
        </p:nvSpPr>
        <p:spPr>
          <a:xfrm>
            <a:off x="123579" y="332165"/>
            <a:ext cx="2553613" cy="150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E394A8-37E9-8005-8468-3FAAC6E7631C}"/>
              </a:ext>
            </a:extLst>
          </p:cNvPr>
          <p:cNvSpPr/>
          <p:nvPr/>
        </p:nvSpPr>
        <p:spPr>
          <a:xfrm>
            <a:off x="9259110" y="332165"/>
            <a:ext cx="2553613" cy="150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3C86C-AA9B-10A6-8451-37C905DD8C63}"/>
              </a:ext>
            </a:extLst>
          </p:cNvPr>
          <p:cNvSpPr txBox="1"/>
          <p:nvPr/>
        </p:nvSpPr>
        <p:spPr>
          <a:xfrm>
            <a:off x="678072" y="801298"/>
            <a:ext cx="1444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Colored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C23E1-B9E7-4A03-3133-8A56CDF0CA55}"/>
              </a:ext>
            </a:extLst>
          </p:cNvPr>
          <p:cNvSpPr txBox="1"/>
          <p:nvPr/>
        </p:nvSpPr>
        <p:spPr>
          <a:xfrm>
            <a:off x="10120215" y="792580"/>
            <a:ext cx="1018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Body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CF28856-80BB-F816-FC30-D8B280216A3D}"/>
              </a:ext>
            </a:extLst>
          </p:cNvPr>
          <p:cNvSpPr/>
          <p:nvPr/>
        </p:nvSpPr>
        <p:spPr>
          <a:xfrm rot="10800000">
            <a:off x="1379947" y="2044287"/>
            <a:ext cx="401613" cy="2079240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589388C-DB00-80A2-7E93-D121FB09B9F6}"/>
              </a:ext>
            </a:extLst>
          </p:cNvPr>
          <p:cNvSpPr/>
          <p:nvPr/>
        </p:nvSpPr>
        <p:spPr>
          <a:xfrm rot="10800000">
            <a:off x="10245279" y="1945532"/>
            <a:ext cx="401613" cy="2125870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30ED6-118C-8996-33BB-70A90A1B7AE3}"/>
              </a:ext>
            </a:extLst>
          </p:cNvPr>
          <p:cNvSpPr txBox="1"/>
          <p:nvPr/>
        </p:nvSpPr>
        <p:spPr>
          <a:xfrm>
            <a:off x="1625661" y="2774164"/>
            <a:ext cx="430887" cy="99222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sz="1600" dirty="0"/>
              <a:t>Meaning</a:t>
            </a:r>
            <a:endParaRPr lang="en-IN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5A75A5-FFB6-DD0B-FD7F-7BA8D51C28AB}"/>
              </a:ext>
            </a:extLst>
          </p:cNvPr>
          <p:cNvSpPr txBox="1"/>
          <p:nvPr/>
        </p:nvSpPr>
        <p:spPr>
          <a:xfrm flipV="1">
            <a:off x="9994321" y="2587796"/>
            <a:ext cx="430887" cy="99222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sz="1600" dirty="0"/>
              <a:t>Meaning</a:t>
            </a:r>
            <a:endParaRPr lang="en-IN" sz="1400" dirty="0"/>
          </a:p>
        </p:txBody>
      </p:sp>
      <p:sp>
        <p:nvSpPr>
          <p:cNvPr id="25" name="Lightning Bolt 24">
            <a:extLst>
              <a:ext uri="{FF2B5EF4-FFF2-40B4-BE49-F238E27FC236}">
                <a16:creationId xmlns:a16="http://schemas.microsoft.com/office/drawing/2014/main" id="{38F80F9B-67C8-863C-0769-705C4DD1E989}"/>
              </a:ext>
            </a:extLst>
          </p:cNvPr>
          <p:cNvSpPr/>
          <p:nvPr/>
        </p:nvSpPr>
        <p:spPr>
          <a:xfrm>
            <a:off x="4661567" y="2774164"/>
            <a:ext cx="3684252" cy="3304471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493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7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25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8" grpId="0" animBg="1"/>
      <p:bldP spid="14" grpId="0"/>
      <p:bldP spid="17" grpId="0"/>
      <p:bldP spid="19" grpId="0" animBg="1"/>
      <p:bldP spid="20" grpId="0" animBg="1"/>
      <p:bldP spid="23" grpId="0"/>
      <p:bldP spid="24" grpId="0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D9CAB-0373-D7B2-4DCB-34784392EDB7}"/>
              </a:ext>
            </a:extLst>
          </p:cNvPr>
          <p:cNvSpPr txBox="1"/>
          <p:nvPr/>
        </p:nvSpPr>
        <p:spPr>
          <a:xfrm>
            <a:off x="3554278" y="641548"/>
            <a:ext cx="5083443" cy="76944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+mj-lt"/>
              </a:rPr>
              <a:t>CHROMOSOMES</a:t>
            </a:r>
            <a:endParaRPr lang="en-IN" b="1" dirty="0">
              <a:latin typeface="+mj-lt"/>
            </a:endParaRPr>
          </a:p>
        </p:txBody>
      </p: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417F2F0D-E627-E0AC-77F9-9F1A8FC5DF4E}"/>
              </a:ext>
            </a:extLst>
          </p:cNvPr>
          <p:cNvSpPr/>
          <p:nvPr/>
        </p:nvSpPr>
        <p:spPr>
          <a:xfrm>
            <a:off x="463979" y="3209650"/>
            <a:ext cx="5323979" cy="2149812"/>
          </a:xfrm>
          <a:prstGeom prst="verticalScroll">
            <a:avLst>
              <a:gd name="adj" fmla="val 206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/>
              <a:t>- Are highly coiled ribbon-like structure of formed by condensation of chromatin fibers during cell division 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6A12A6B3-997F-1DBE-3A96-E847A513C913}"/>
              </a:ext>
            </a:extLst>
          </p:cNvPr>
          <p:cNvSpPr/>
          <p:nvPr/>
        </p:nvSpPr>
        <p:spPr>
          <a:xfrm rot="2154940">
            <a:off x="4764781" y="1363086"/>
            <a:ext cx="401613" cy="1743075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CA8CCF3-B3AD-680A-8B89-FB9DDFE82D54}"/>
              </a:ext>
            </a:extLst>
          </p:cNvPr>
          <p:cNvSpPr/>
          <p:nvPr/>
        </p:nvSpPr>
        <p:spPr>
          <a:xfrm rot="19404309">
            <a:off x="7329784" y="1358896"/>
            <a:ext cx="401613" cy="1743075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croll: Vertical 5">
            <a:extLst>
              <a:ext uri="{FF2B5EF4-FFF2-40B4-BE49-F238E27FC236}">
                <a16:creationId xmlns:a16="http://schemas.microsoft.com/office/drawing/2014/main" id="{9FCD8CAC-6B4F-7E62-7978-A5963107B7DC}"/>
              </a:ext>
            </a:extLst>
          </p:cNvPr>
          <p:cNvSpPr/>
          <p:nvPr/>
        </p:nvSpPr>
        <p:spPr>
          <a:xfrm>
            <a:off x="6229239" y="3209650"/>
            <a:ext cx="5323979" cy="2149812"/>
          </a:xfrm>
          <a:prstGeom prst="verticalScroll">
            <a:avLst>
              <a:gd name="adj" fmla="val 206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/>
              <a:t>- </a:t>
            </a:r>
            <a:r>
              <a:rPr lang="en-US" sz="2400" b="1" i="1" kern="1200" dirty="0">
                <a:solidFill>
                  <a:srgbClr val="FFFFFF"/>
                </a:solidFill>
                <a:effectLst/>
                <a:latin typeface="Sitka Banner" pitchFamily="2" charset="0"/>
              </a:rPr>
              <a:t>Complex of DNA and protein (HISTONE) is called CHROMATIN</a:t>
            </a:r>
            <a:endParaRPr lang="en-IN" sz="3200" b="1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8417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F28F0-1FD7-7AC1-722E-1B94D4C9642C}"/>
              </a:ext>
            </a:extLst>
          </p:cNvPr>
          <p:cNvSpPr txBox="1"/>
          <p:nvPr/>
        </p:nvSpPr>
        <p:spPr>
          <a:xfrm>
            <a:off x="3529722" y="281899"/>
            <a:ext cx="513255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+mj-lt"/>
              </a:rPr>
              <a:t>CHROMATIN</a:t>
            </a:r>
            <a:endParaRPr lang="en-IN" sz="4800" b="1" dirty="0">
              <a:latin typeface="+mj-lt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6321862-36ED-E507-A0EF-31AD851CAFD2}"/>
              </a:ext>
            </a:extLst>
          </p:cNvPr>
          <p:cNvSpPr/>
          <p:nvPr/>
        </p:nvSpPr>
        <p:spPr>
          <a:xfrm rot="2154940">
            <a:off x="4356218" y="2576988"/>
            <a:ext cx="401613" cy="1743075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Wave 3">
            <a:extLst>
              <a:ext uri="{FF2B5EF4-FFF2-40B4-BE49-F238E27FC236}">
                <a16:creationId xmlns:a16="http://schemas.microsoft.com/office/drawing/2014/main" id="{93C7EB83-7820-6993-3D5B-17E37FDD3DD0}"/>
              </a:ext>
            </a:extLst>
          </p:cNvPr>
          <p:cNvSpPr/>
          <p:nvPr/>
        </p:nvSpPr>
        <p:spPr>
          <a:xfrm>
            <a:off x="2778356" y="4272160"/>
            <a:ext cx="2318937" cy="1782652"/>
          </a:xfrm>
          <a:prstGeom prst="wave">
            <a:avLst>
              <a:gd name="adj1" fmla="val 12500"/>
              <a:gd name="adj2" fmla="val 8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DNA </a:t>
            </a:r>
            <a:r>
              <a:rPr lang="en-US" sz="2400" dirty="0"/>
              <a:t>- </a:t>
            </a:r>
            <a:r>
              <a:rPr lang="en-US" sz="2400" i="1" dirty="0"/>
              <a:t>about</a:t>
            </a:r>
            <a:r>
              <a:rPr lang="en-US" sz="2400" dirty="0"/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40%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Wave 4">
            <a:extLst>
              <a:ext uri="{FF2B5EF4-FFF2-40B4-BE49-F238E27FC236}">
                <a16:creationId xmlns:a16="http://schemas.microsoft.com/office/drawing/2014/main" id="{4743C589-BB1D-41F7-569E-F1A99B9F4C99}"/>
              </a:ext>
            </a:extLst>
          </p:cNvPr>
          <p:cNvSpPr/>
          <p:nvPr/>
        </p:nvSpPr>
        <p:spPr>
          <a:xfrm>
            <a:off x="6743999" y="4272159"/>
            <a:ext cx="2318936" cy="1782651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a typeface="Calibri" panose="020F0502020204030204" pitchFamily="34" charset="0"/>
                <a:cs typeface="Calibri" panose="020F0502020204030204" pitchFamily="34" charset="0"/>
              </a:rPr>
              <a:t>HISTONE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400" i="1" dirty="0">
                <a:ea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60%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CB8476D-CB20-3B05-0974-ECEAE1053B60}"/>
              </a:ext>
            </a:extLst>
          </p:cNvPr>
          <p:cNvSpPr/>
          <p:nvPr/>
        </p:nvSpPr>
        <p:spPr>
          <a:xfrm rot="19717753">
            <a:off x="7168344" y="2602022"/>
            <a:ext cx="401613" cy="1743075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C0A86-37A9-42E0-1BFC-0B98710F9636}"/>
              </a:ext>
            </a:extLst>
          </p:cNvPr>
          <p:cNvSpPr txBox="1"/>
          <p:nvPr/>
        </p:nvSpPr>
        <p:spPr>
          <a:xfrm>
            <a:off x="4475375" y="1995176"/>
            <a:ext cx="306887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lonna MT" panose="04020805060202030203" pitchFamily="82" charset="0"/>
              </a:rPr>
              <a:t>Composed of</a:t>
            </a:r>
            <a:endParaRPr lang="en-IN" sz="4800" b="1" dirty="0">
              <a:latin typeface="Colonna MT" panose="04020805060202030203" pitchFamily="82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58ACB7C-0B83-3889-9101-29EE5D03F525}"/>
              </a:ext>
            </a:extLst>
          </p:cNvPr>
          <p:cNvSpPr/>
          <p:nvPr/>
        </p:nvSpPr>
        <p:spPr>
          <a:xfrm>
            <a:off x="5895193" y="1176055"/>
            <a:ext cx="401613" cy="712625"/>
          </a:xfrm>
          <a:prstGeom prst="downArrow">
            <a:avLst>
              <a:gd name="adj1" fmla="val 32447"/>
              <a:gd name="adj2" fmla="val 7927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14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Custom 2">
      <a:majorFont>
        <a:latin typeface="Castellar"/>
        <a:ea typeface=""/>
        <a:cs typeface=""/>
      </a:majorFont>
      <a:minorFont>
        <a:latin typeface="Sitka Banner"/>
        <a:ea typeface=""/>
        <a:cs typeface="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65</TotalTime>
  <Words>57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Castellar</vt:lpstr>
      <vt:lpstr>Colonna MT</vt:lpstr>
      <vt:lpstr>Sitka Banner</vt:lpstr>
      <vt:lpstr>Wingdings</vt:lpstr>
      <vt:lpstr>Wood Type</vt:lpstr>
      <vt:lpstr>Structure of chromosomes, cell Cycle And Division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Somasri Patra</dc:creator>
  <cp:lastModifiedBy>Somasri Patra</cp:lastModifiedBy>
  <cp:revision>1</cp:revision>
  <dcterms:created xsi:type="dcterms:W3CDTF">2026-01-10T13:30:21Z</dcterms:created>
  <dcterms:modified xsi:type="dcterms:W3CDTF">2026-01-10T14:36:00Z</dcterms:modified>
</cp:coreProperties>
</file>